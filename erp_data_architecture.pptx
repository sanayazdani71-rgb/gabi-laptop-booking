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731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ERP Data Architecture — From Raw Source to Analytical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10896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AEC0"/>
                </a:solidFill>
              </a:rPr>
              <a:t>How ERP fields are structured into reference dimensions, linked, and converted into production &amp; material KPIs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631436" y="640080"/>
            <a:ext cx="2926080" cy="27432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 w="1524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100">
                <a:solidFill>
                  <a:srgbClr val="FFFFFF"/>
                </a:solidFill>
              </a:rPr>
              <a:t>🗄  Raw ERP Data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1436" y="914400"/>
            <a:ext cx="2926080" cy="292608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 w="1524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463039"/>
            <a:ext cx="3758184" cy="274320"/>
          </a:xfrm>
          <a:prstGeom prst="roundRect">
            <a:avLst>
              <a:gd name="adj" fmla="val 6000"/>
            </a:avLst>
          </a:prstGeom>
          <a:solidFill>
            <a:srgbClr val="2277CC"/>
          </a:solidFill>
          <a:ln w="15240">
            <a:solidFill>
              <a:srgbClr val="22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950">
                <a:solidFill>
                  <a:srgbClr val="FFFFFF"/>
                </a:solidFill>
              </a:rPr>
              <a:t>🏢  Organizational Reference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3758184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2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54864"/>
          <a:lstStyle/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FST_beteiligt</a:t>
            </a:r>
          </a:p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Firma_Referenz</a:t>
            </a:r>
          </a:p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Anwendung_Referenz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5384" y="1463039"/>
            <a:ext cx="3758184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950">
                <a:solidFill>
                  <a:srgbClr val="FFFFFF"/>
                </a:solidFill>
              </a:rPr>
              <a:t>📋  Order / Project Reference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15384" y="1737360"/>
            <a:ext cx="3758184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54864"/>
          <a:lstStyle/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Auftrag_Referenz</a:t>
            </a:r>
          </a:p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Auftrag_Referenz_Bzg</a:t>
            </a:r>
          </a:p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IP_Nr</a:t>
            </a:r>
          </a:p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FA_Nr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74736" y="1463039"/>
            <a:ext cx="3758184" cy="27432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950">
                <a:solidFill>
                  <a:srgbClr val="FFFFFF"/>
                </a:solidFill>
              </a:rPr>
              <a:t>📦  Product / Part Reference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74736" y="1737360"/>
            <a:ext cx="3758184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54864"/>
          <a:lstStyle/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PPG_Produkt_BK</a:t>
            </a:r>
          </a:p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Produkt</a:t>
            </a:r>
          </a:p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Teil</a:t>
            </a:r>
          </a:p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Teilenummer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4475" y="1207007"/>
            <a:ext cx="0" cy="128017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135124" y="1335024"/>
            <a:ext cx="7918704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135124" y="1335024"/>
            <a:ext cx="0" cy="128015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94476" y="1335024"/>
            <a:ext cx="0" cy="128015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3828" y="1335024"/>
            <a:ext cx="0" cy="128015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56032" y="2953512"/>
            <a:ext cx="5701283" cy="27432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950">
                <a:solidFill>
                  <a:srgbClr val="FFFFFF"/>
                </a:solidFill>
              </a:rPr>
              <a:t>🔗  Linkage / Connection Logic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3227832"/>
            <a:ext cx="5701283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54864"/>
          <a:lstStyle/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Which product / order line belongs to which FST?</a:t>
            </a:r>
          </a:p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Which product consists of which part number?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953512"/>
            <a:ext cx="5701283" cy="274320"/>
          </a:xfrm>
          <a:prstGeom prst="roundRect">
            <a:avLst>
              <a:gd name="adj" fmla="val 6000"/>
            </a:avLst>
          </a:prstGeom>
          <a:solidFill>
            <a:srgbClr val="16A34A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950">
                <a:solidFill>
                  <a:srgbClr val="FFFFFF"/>
                </a:solidFill>
              </a:rPr>
              <a:t>📊  Measure / Fact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227832"/>
            <a:ext cx="5701283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54864"/>
          <a:lstStyle/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Menge_Original</a:t>
            </a:r>
          </a:p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Menge_statistisch</a:t>
            </a:r>
          </a:p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PPG_MEH_Statistik</a:t>
            </a:r>
          </a:p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Wert</a:t>
            </a:r>
          </a:p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Materialverbrauch_kg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135124" y="2825496"/>
            <a:ext cx="7918704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135124" y="2697480"/>
            <a:ext cx="0" cy="128016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94476" y="2697480"/>
            <a:ext cx="0" cy="128016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053828" y="2697480"/>
            <a:ext cx="0" cy="128016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106674" y="2825496"/>
            <a:ext cx="5975604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106674" y="2825496"/>
            <a:ext cx="0" cy="128016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082278" y="2825496"/>
            <a:ext cx="0" cy="128016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56032" y="4535424"/>
            <a:ext cx="5701283" cy="27432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950">
                <a:solidFill>
                  <a:srgbClr val="FFFFFF"/>
                </a:solidFill>
              </a:rPr>
              <a:t>🔀  Connection Outputs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4809744"/>
            <a:ext cx="5701283" cy="914400"/>
          </a:xfrm>
          <a:prstGeom prst="roundRect">
            <a:avLst>
              <a:gd name="adj" fmla="val 6000"/>
            </a:avLst>
          </a:prstGeom>
          <a:solidFill>
            <a:srgbClr val="EFFBF9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54864"/>
          <a:lstStyle/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•  FST system boundary definition</a:t>
            </a:r>
          </a:p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•  Product ↔ FST routing</a:t>
            </a:r>
          </a:p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•  Order ↔ product mapping</a:t>
            </a:r>
          </a:p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•  Part ↔ product mapping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535424"/>
            <a:ext cx="5701283" cy="274320"/>
          </a:xfrm>
          <a:prstGeom prst="roundRect">
            <a:avLst>
              <a:gd name="adj" fmla="val 6000"/>
            </a:avLst>
          </a:prstGeom>
          <a:solidFill>
            <a:srgbClr val="16A34A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950">
                <a:solidFill>
                  <a:srgbClr val="FFFFFF"/>
                </a:solidFill>
              </a:rPr>
              <a:t>📈  Analytical Outputs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09744"/>
            <a:ext cx="5701283" cy="91440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54864"/>
          <a:lstStyle/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•  Actual production volume</a:t>
            </a:r>
          </a:p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•  Material consumption (kg)</a:t>
            </a:r>
          </a:p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•  Material intensity (kg / unit)</a:t>
            </a:r>
          </a:p>
          <a:p>
            <a:pPr algn="l">
              <a:spcAft>
                <a:spcPts val="100"/>
              </a:spcAft>
            </a:pPr>
            <a:r>
              <a:rPr sz="900">
                <a:solidFill>
                  <a:srgbClr val="1A1A2E"/>
                </a:solidFill>
              </a:rPr>
              <a:t>•  Product mix analysis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106674" y="4279392"/>
            <a:ext cx="0" cy="256032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082278" y="4279392"/>
            <a:ext cx="0" cy="256032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37160" y="6675120"/>
            <a:ext cx="1188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6B7280"/>
                </a:solidFill>
              </a:rPr>
              <a:t>Lindner Group · IMS Department · Integrated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