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1A1A2E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00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Source Profiling &amp; FST Harmonization — Two Data Sources Converging into One Crosswalk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13232"/>
            <a:ext cx="5545836" cy="4572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1A1A2E"/>
                </a:solidFill>
              </a:rPr>
              <a:t>📁  Data Source 1 — fo-um-011 Eco-Balance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16736"/>
            <a:ext cx="554583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2277CC"/>
                </a:solidFill>
              </a:rPr>
              <a:t>🔍  Source Profiling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Existing environmental reporting workbook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Contains input/output environmental data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Contains calculated phantom product mass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423160"/>
            <a:ext cx="554583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16A34A"/>
                </a:solidFill>
              </a:rPr>
              <a:t>✅  Selected Data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Measured energy per FST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Measured water per FST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Measured wastewater per FST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Available FST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529584"/>
            <a:ext cx="5545836" cy="1097280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6B7280"/>
                </a:solidFill>
              </a:rPr>
              <a:t>🚫  Excluded / Not Used at This Stage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Calculated product quantity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Packaging allocation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Waste allocation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Product-based KPIs from phantom product mass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2958" y="1170432"/>
            <a:ext cx="0" cy="146304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42666" y="1312164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092958" y="2276856"/>
            <a:ext cx="0" cy="146304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42666" y="2418588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092958" y="3383280"/>
            <a:ext cx="0" cy="146304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42666" y="3525012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3076" y="713232"/>
            <a:ext cx="5545836" cy="4572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1A1A2E"/>
                </a:solidFill>
              </a:rPr>
              <a:t>📁  Data Source 2 — ERP / Fredl Production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3076" y="1316736"/>
            <a:ext cx="554583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D97706"/>
                </a:solidFill>
              </a:rPr>
              <a:t>🔍  Source Profiling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Transaction-level production / order data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Contains FST, product, part, quantity, value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Contains material consumption in kg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3076" y="2423160"/>
            <a:ext cx="554583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7C3AED"/>
                </a:solidFill>
              </a:rPr>
              <a:t>✂️  Column Scope Filtering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Removed project-specific columns: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Firma_Referenz       •  Auftrag_Referenz_Bzg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Anwendung_Referenz   •  IP_Nr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Auftrag_Referenz     •  FA_Nr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3076" y="4032504"/>
            <a:ext cx="5545836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0D9488"/>
                </a:solidFill>
              </a:rPr>
              <a:t>🧩  Core Analytical Structure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Central key: Teilenummer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Product group: PPG_Produkt_BK · Description: Produkt / Teil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FST involved: FST_beteiligt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Quantities and material consumption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3076" y="5276088"/>
            <a:ext cx="5545836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16A34A"/>
                </a:solidFill>
              </a:rPr>
              <a:t>🌐  Semantic Enrichment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Decode PPG_Produkt_BK into product division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Identify unit logic: ST or m²</a:t>
            </a:r>
          </a:p>
          <a:p>
            <a:pPr algn="l">
              <a:spcAft>
                <a:spcPts val="100"/>
              </a:spcAft>
            </a:pPr>
            <a:r>
              <a:rPr sz="850">
                <a:solidFill>
                  <a:srgbClr val="1A1A2E"/>
                </a:solidFill>
              </a:rPr>
              <a:t>•  Interpret NULL / zero values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5994" y="1170432"/>
            <a:ext cx="0" cy="146304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45702" y="1312164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095994" y="2276856"/>
            <a:ext cx="0" cy="146304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45702" y="2418588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095994" y="3886200"/>
            <a:ext cx="0" cy="146304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45702" y="4027932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095994" y="5129784"/>
            <a:ext cx="0" cy="146304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45702" y="5271516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6556247"/>
            <a:ext cx="11548872" cy="4572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100">
                <a:solidFill>
                  <a:srgbClr val="1A1A2E"/>
                </a:solidFill>
              </a:rPr>
              <a:t>🔀  FST Boundary Harmonization / Crosswalk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98836" y="7205471"/>
            <a:ext cx="739127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spcAft>
                <a:spcPts val="300"/>
              </a:spcAft>
            </a:pPr>
            <a:r>
              <a:rPr b="1" sz="1000">
                <a:solidFill>
                  <a:srgbClr val="1A1A2E"/>
                </a:solidFill>
              </a:rPr>
              <a:t>📊  Compare FSTs from Both Sources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FSTs present in both lists      •  FSTs only in fo-um-011 list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FSTs only in Fredl's ERP list   •  Availability of energy values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Assignment to production area / Bereich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92958" y="4626864"/>
            <a:ext cx="0" cy="1769363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042666" y="6391655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095994" y="6236207"/>
            <a:ext cx="0" cy="160020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45702" y="6391655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092958" y="6396227"/>
            <a:ext cx="6003036" cy="0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94476" y="6396227"/>
            <a:ext cx="0" cy="160020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044184" y="6551675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094476" y="7013447"/>
            <a:ext cx="0" cy="192024"/>
          </a:xfrm>
          <a:prstGeom prst="line">
            <a:avLst/>
          </a:prstGeom>
          <a:ln w="19050">
            <a:solidFill>
              <a:srgbClr val="C4C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044184" y="7200899"/>
            <a:ext cx="100584" cy="100584"/>
          </a:xfrm>
          <a:prstGeom prst="downArrow">
            <a:avLst/>
          </a:prstGeom>
          <a:solidFill>
            <a:srgbClr val="C4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656832"/>
            <a:ext cx="1188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B7280"/>
                </a:solidFill>
              </a:rPr>
              <a:t>Lindner Group · Eco-Balance &amp; ERP Data Integration · Source Profiling Stage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